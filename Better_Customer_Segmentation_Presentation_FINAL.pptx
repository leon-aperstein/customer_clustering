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513929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/>
              <a:t>Discovering </a:t>
            </a:r>
            <a:r>
              <a:rPr lang="en-US" dirty="0"/>
              <a:t>Customers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>
                <a:solidFill>
                  <a:srgbClr val="DCDCDC"/>
                </a:solidFill>
              </a:defRPr>
            </a:pPr>
            <a:r>
              <a:t>Unsupervised Customer Segmentation for E‑Commerce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t>Final Project: RFM Analysis &amp; Clustering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Problem: Identifying Actionable Groups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>
                <a:solidFill>
                  <a:srgbClr val="DCDCDC"/>
                </a:solidFill>
              </a:defRPr>
            </a:pPr>
            <a:r>
              <a:t>Goal: Transform raw transaction data into statistically distinct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t>customer segments for targeted marketing.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endParaRPr/>
          </a:p>
          <a:p>
            <a:pPr>
              <a:defRPr sz="2200">
                <a:solidFill>
                  <a:srgbClr val="DCDCDC"/>
                </a:solidFill>
              </a:defRPr>
            </a:pPr>
            <a:r>
              <a:t>RFM Feature Engineering: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t>• Recency (R): Days since last purchase (Engagement)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t>• Frequency (F): Total number of transactions (Loyalty)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t>• Monetary (M): Total money spent (Value)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Data Preparation: Taming the Skew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200">
                <a:solidFill>
                  <a:srgbClr val="DCDCDC"/>
                </a:solidFill>
              </a:defRPr>
            </a:pPr>
            <a:r>
              <a:rPr dirty="0"/>
              <a:t>The Challenge: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rPr dirty="0"/>
              <a:t>Retail data is inherently skewed. A few “whale” customers drive most revenue.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endParaRPr dirty="0"/>
          </a:p>
          <a:p>
            <a:pPr>
              <a:defRPr sz="2200">
                <a:solidFill>
                  <a:srgbClr val="DCDCDC"/>
                </a:solidFill>
              </a:defRPr>
            </a:pPr>
            <a:r>
              <a:rPr dirty="0"/>
              <a:t>Solution Pipeline: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rPr dirty="0"/>
              <a:t>• Outlier Capping: 95th percentile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rPr dirty="0"/>
              <a:t>• Log Transformation: Normalizes long‑tail distributions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rPr dirty="0"/>
              <a:t>• Standard Scaling: Z‑score normalization treats R/F/M equally</a:t>
            </a:r>
          </a:p>
        </p:txBody>
      </p:sp>
      <p:pic>
        <p:nvPicPr>
          <p:cNvPr id="4" name="Picture 3" descr="ebf987c5-6329-4722-8e70-b5c0a5e73f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084955"/>
            <a:ext cx="7315200" cy="24072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PCA: Stabilizing the Input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204793" cy="1384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200">
                <a:solidFill>
                  <a:srgbClr val="DCDCDC"/>
                </a:solidFill>
              </a:defRPr>
            </a:pPr>
            <a:r>
              <a:rPr dirty="0"/>
              <a:t>Why PCA?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rPr dirty="0"/>
              <a:t>1. Decorrelates RFM features for K‑Means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rPr dirty="0"/>
              <a:t>2. Scree plot shows PC1 + PC2 capture</a:t>
            </a:r>
            <a:r>
              <a:rPr lang="en-US" dirty="0"/>
              <a:t>s almost</a:t>
            </a:r>
            <a:r>
              <a:rPr dirty="0"/>
              <a:t> </a:t>
            </a:r>
            <a:r>
              <a:rPr lang="en-US" dirty="0"/>
              <a:t>95</a:t>
            </a:r>
            <a:r>
              <a:rPr dirty="0"/>
              <a:t>%</a:t>
            </a:r>
            <a:r>
              <a:rPr lang="en-US" dirty="0"/>
              <a:t> </a:t>
            </a:r>
            <a:r>
              <a:rPr dirty="0"/>
              <a:t>variance</a:t>
            </a:r>
          </a:p>
        </p:txBody>
      </p:sp>
      <p:pic>
        <p:nvPicPr>
          <p:cNvPr id="4" name="Picture 3" descr="8527b9c3-ee3d-4151-a398-0d821ff1df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844" y="3396675"/>
            <a:ext cx="4248790" cy="2385392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1501C82-9E41-06EB-2384-8954423C8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747" y="2776653"/>
            <a:ext cx="4190959" cy="377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Finding the Optimal 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>
                <a:solidFill>
                  <a:srgbClr val="DCDCDC"/>
                </a:solidFill>
              </a:defRPr>
            </a:pPr>
            <a:r>
              <a:t>Optimization Strategy (K=2 to K=10):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t>• Elbow Method: Bend at K=4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t>• Silhouette Score: K=4 good compromise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endParaRPr/>
          </a:p>
          <a:p>
            <a:pPr>
              <a:defRPr sz="2200">
                <a:solidFill>
                  <a:srgbClr val="DCDCDC"/>
                </a:solidFill>
              </a:defRPr>
            </a:pPr>
            <a:r>
              <a:t>Selected Optimal K = 4</a:t>
            </a:r>
          </a:p>
        </p:txBody>
      </p:sp>
      <p:pic>
        <p:nvPicPr>
          <p:cNvPr id="4" name="Picture 3" descr="527434ca-36b2-46d2-9381-cc650f1e6d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082" y="3429000"/>
            <a:ext cx="7315200" cy="30146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02829"/>
            <a:ext cx="928311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3600" dirty="0"/>
              <a:t>Model Comparison: K‑Means vs. Agglomerative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200">
                <a:solidFill>
                  <a:srgbClr val="DCDCDC"/>
                </a:solidFill>
              </a:defRPr>
            </a:pPr>
            <a:r>
              <a:rPr dirty="0"/>
              <a:t>• K‑Means: Lower Davies‑Bouldin Index (better separation)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rPr dirty="0"/>
              <a:t>• Hierarchical: Dendrogram confirms grouping structure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endParaRPr dirty="0"/>
          </a:p>
          <a:p>
            <a:pPr>
              <a:defRPr sz="2200">
                <a:solidFill>
                  <a:srgbClr val="DCDCDC"/>
                </a:solidFill>
              </a:defRPr>
            </a:pPr>
            <a:r>
              <a:rPr dirty="0"/>
              <a:t>Final choice: K‑Means</a:t>
            </a:r>
          </a:p>
        </p:txBody>
      </p:sp>
      <p:pic>
        <p:nvPicPr>
          <p:cNvPr id="4" name="Picture 3" descr="c49189e8-5ff7-4a3e-a048-63452c27ee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025472"/>
            <a:ext cx="7315200" cy="31724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Visualizing the Clusters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>
                <a:solidFill>
                  <a:srgbClr val="DCDCDC"/>
                </a:solidFill>
              </a:defRPr>
            </a:pPr>
            <a:r>
              <a:t>PC1 vs. PC2 Space: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t>Clear separation between personas.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endParaRPr/>
          </a:p>
          <a:p>
            <a:pPr>
              <a:defRPr sz="2200">
                <a:solidFill>
                  <a:srgbClr val="DCDCDC"/>
                </a:solidFill>
              </a:defRPr>
            </a:pPr>
            <a:r>
              <a:t>• X‑Axis (PC1): Value (Monetary + Frequency)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t>• Y‑Axis (PC2): Engagement (Recency)</a:t>
            </a:r>
          </a:p>
        </p:txBody>
      </p:sp>
      <p:pic>
        <p:nvPicPr>
          <p:cNvPr id="4" name="Picture 3" descr="38f27c7c-7a9f-4b72-ab03-99b9ea54569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783" y="3246120"/>
            <a:ext cx="4234070" cy="35166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The Value Drivers: Cluster Profiles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>
                <a:solidFill>
                  <a:srgbClr val="DCDCDC"/>
                </a:solidFill>
              </a:defRPr>
            </a:pPr>
            <a:r>
              <a:t>High‑Value Loyalists — Low Recency, High Frequency, High Monetary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t>New / Promising — Very Low Recency, Low Monetary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t>Frequent Buyers — Medium Recency, High Frequency, Medium Monetary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t>Churn Risk — High Recency, Low Frequency, Low Monetary</a:t>
            </a:r>
          </a:p>
        </p:txBody>
      </p:sp>
      <p:pic>
        <p:nvPicPr>
          <p:cNvPr id="4" name="Picture 3" descr="6c1b725a-8749-4ddc-a347-c3cd9df554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325" y="3060418"/>
            <a:ext cx="7315200" cy="343182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Actionable Marketing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>
                <a:solidFill>
                  <a:srgbClr val="DCDCDC"/>
                </a:solidFill>
              </a:defRPr>
            </a:pPr>
            <a:r>
              <a:t>Loyalists → Retention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t>New Customers → Increase Frequency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t>Churn Risk → Reactivation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>
                <a:solidFill>
                  <a:srgbClr val="DCDCDC"/>
                </a:solidFill>
              </a:defRPr>
            </a:pPr>
            <a:r>
              <a:t>Unsupervised learning produced four actionable customer segments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t>that maximize marketing ROI.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1517</TotalTime>
  <Words>355</Words>
  <Application>Microsoft Office PowerPoint</Application>
  <PresentationFormat>On-screen Show (4:3)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Leon Aperstein</dc:creator>
  <cp:keywords/>
  <dc:description>generated using python-pptx</dc:description>
  <cp:lastModifiedBy>Leon Aperstein</cp:lastModifiedBy>
  <cp:revision>2</cp:revision>
  <dcterms:created xsi:type="dcterms:W3CDTF">2013-01-27T09:14:16Z</dcterms:created>
  <dcterms:modified xsi:type="dcterms:W3CDTF">2025-12-07T16:34:58Z</dcterms:modified>
  <cp:category/>
</cp:coreProperties>
</file>